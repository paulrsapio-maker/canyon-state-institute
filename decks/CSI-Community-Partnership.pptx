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Introduce yourself and Canyon State Institute as a veteran-owned institution. Fill in the date and presenter line before sending. Frame the meeting as exploring a shared-facility partnership, not a sales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Establishes what the institution is. The five numbered items are the differentiator — most schools do one or two of these, not all five. Confirm the states served (Arizona and Texas) and grade range before presenting; state authorization for enrolling minors varies by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'why now' case. Six documented pressures on the region's schools. If the partner serves a specific community, name the local version of these pressures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values slide. Keep it brief when presenting — it sets tone rather than making an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academic model. Note the framing: the high school is a PROGRAM of Canyon State Institute, not a separate school — one institution, one set of policies, one catalog.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internal-pathway argument: a student can enter at grade 9 and continue into certificate programs without leaving the institution. It is a genuine differentiator and reinforces the single-institution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need argument, then the ripple effect: serving students serves families, employers, and the wider community. That chain is what makes this a community-partnership conversation rather than a school-enrollment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ask, stated as a shared vision rather than a request for space. The five roles let the partner see their building doing more than one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the ask scales — occasional classroom use is a real starting point, not a lesser option. Let the partner self-select the arrangement that fits their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from the partner's side of the table. If they own underused space, 'Facility Utilization' is usually the argument that lands first — the building starts working for the community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student-outcome case. Eight gains, five destinations — this is the slide families care about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emotional close before the ask. Pause on the quote. Canyon State Institute is veteran-owned — that commitment to service is the same instinct behind this partnership.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proposing a specific next action — a site visit is the easiest yes. Fill in the contact line before sending; it currently holds bracketed placeholders.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aulsapio/Desktop/Claude Code/canyon-state-institute/decks/assets/hero-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Users/paulsapio/Desktop/Claude Code/canyon-state-institute/decks/assets/logo-revers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66928"/>
            <a:ext cx="3931920" cy="914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2212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PARTNERSHIP PROPOSAL</a:t>
            </a:r>
            <a:endParaRPr lang="en-US" sz="1250" dirty="0"/>
          </a:p>
        </p:txBody>
      </p:sp>
      <p:sp>
        <p:nvSpPr>
          <p:cNvPr id="5" name="Text 1"/>
          <p:cNvSpPr/>
          <p:nvPr/>
        </p:nvSpPr>
        <p:spPr>
          <a:xfrm>
            <a:off x="658368" y="2615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DF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Educational Opportunity.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658368" y="3200400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DF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Strengthening Communities.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658368" y="37856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 Future Leaders.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658368" y="4626864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Canyon State Institute  ·  College &amp; Career Preparatory High School Program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58368" y="5852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  ·  Presented by [Name, Title]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A33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7A2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Canyon State Institute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58368" y="13716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College &amp; Career Preparatory High School Program  ·  Grades 9–12  ·  Arizona and Texas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85623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combine things that are usually separate: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2240280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22219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high school education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2697480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26791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STEM and innovation learning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3154680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31363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prep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3611880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35935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training, access, and real workforce certifications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" y="4069080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" y="40507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paths into college and careers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46520" y="1856232"/>
            <a:ext cx="5086807" cy="1481328"/>
          </a:xfrm>
          <a:prstGeom prst="roundRect">
            <a:avLst>
              <a:gd name="adj" fmla="val 5556"/>
            </a:avLst>
          </a:prstGeom>
          <a:solidFill>
            <a:srgbClr val="F6E7D3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20840" y="2011680"/>
            <a:ext cx="4538167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7A2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graduate with a diploma, credentials employers recognize, and a path forward.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46520" y="3502152"/>
            <a:ext cx="5086807" cy="1627632"/>
          </a:xfrm>
          <a:prstGeom prst="roundRect">
            <a:avLst>
              <a:gd name="adj" fmla="val 5056"/>
            </a:avLst>
          </a:prstGeom>
          <a:solidFill>
            <a:srgbClr val="3B2314"/>
          </a:solidFill>
          <a:ln w="9525">
            <a:solidFill>
              <a:srgbClr val="3B2314"/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20840" y="36850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20840" y="4023360"/>
            <a:ext cx="45381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6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students and adult learners a real shot at a good future, with local partners helping make it happen.</a:t>
            </a:r>
            <a:endParaRPr lang="en-US" sz="1350" dirty="0"/>
          </a:p>
        </p:txBody>
      </p:sp>
      <p:pic>
        <p:nvPicPr>
          <p:cNvPr id="27" name="Image 0" descr="/Users/paulsapio/Desktop/Claude Code/canyon-state-institute/decks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291072"/>
            <a:ext cx="274320" cy="2743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0241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Canyon State Institute  ·  Community Partnership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1076127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A33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7A2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Canyon State Institute, Why Now?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58368" y="140817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across Arizona and Texas need expanded educational opportunities that address: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1883664"/>
            <a:ext cx="3405530" cy="1024128"/>
          </a:xfrm>
          <a:prstGeom prst="roundRect">
            <a:avLst>
              <a:gd name="adj" fmla="val 8036"/>
            </a:avLst>
          </a:prstGeom>
          <a:solidFill>
            <a:srgbClr val="FDFAF5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103120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35024" y="2029968"/>
            <a:ext cx="24911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student populations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93082" y="1883664"/>
            <a:ext cx="3405530" cy="1024128"/>
          </a:xfrm>
          <a:prstGeom prst="roundRect">
            <a:avLst>
              <a:gd name="adj" fmla="val 8036"/>
            </a:avLst>
          </a:prstGeom>
          <a:solidFill>
            <a:srgbClr val="FDFAF5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30826" y="2103120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0826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69738" y="2029968"/>
            <a:ext cx="24911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 personalized learning environments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7797" y="1883664"/>
            <a:ext cx="3405530" cy="1024128"/>
          </a:xfrm>
          <a:prstGeom prst="roundRect">
            <a:avLst>
              <a:gd name="adj" fmla="val 8036"/>
            </a:avLst>
          </a:prstGeom>
          <a:solidFill>
            <a:srgbClr val="FDFAF5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5541" y="2103120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5541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04453" y="2029968"/>
            <a:ext cx="24911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interest in STEM education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3090672"/>
            <a:ext cx="3405530" cy="1024128"/>
          </a:xfrm>
          <a:prstGeom prst="roundRect">
            <a:avLst>
              <a:gd name="adj" fmla="val 8036"/>
            </a:avLst>
          </a:prstGeom>
          <a:solidFill>
            <a:srgbClr val="FDFAF5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6112" y="3310128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35024" y="3236976"/>
            <a:ext cx="24911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skill shortages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93082" y="3090672"/>
            <a:ext cx="3405530" cy="1024128"/>
          </a:xfrm>
          <a:prstGeom prst="roundRect">
            <a:avLst>
              <a:gd name="adj" fmla="val 8036"/>
            </a:avLst>
          </a:prstGeom>
          <a:solidFill>
            <a:srgbClr val="FDFAF5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30826" y="3310128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30826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69738" y="3236976"/>
            <a:ext cx="24911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career-connected education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27797" y="3090672"/>
            <a:ext cx="3405530" cy="1024128"/>
          </a:xfrm>
          <a:prstGeom prst="roundRect">
            <a:avLst>
              <a:gd name="adj" fmla="val 8036"/>
            </a:avLst>
          </a:prstGeom>
          <a:solidFill>
            <a:srgbClr val="FDFAF5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65541" y="3310128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5541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804453" y="3236976"/>
            <a:ext cx="24911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seeking alternative pathways to success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" y="45171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are looking for schools where students are: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8368" y="4956048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7A2E0E"/>
          </a:solidFill>
          <a:ln w="12700">
            <a:solidFill>
              <a:srgbClr val="7A2E0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495604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Known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359152" y="4956048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7A2E0E"/>
          </a:solidFill>
          <a:ln w="12700">
            <a:solidFill>
              <a:srgbClr val="7A2E0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59152" y="495604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Supported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059936" y="4956048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7A2E0E"/>
          </a:solidFill>
          <a:ln w="12700">
            <a:solidFill>
              <a:srgbClr val="7A2E0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59936" y="495604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Challenged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760720" y="4956048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7A2E0E"/>
          </a:solidFill>
          <a:ln w="12700">
            <a:solidFill>
              <a:srgbClr val="7A2E0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49560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Prepared for the future</a:t>
            </a:r>
            <a:endParaRPr lang="en-US" sz="1200" dirty="0"/>
          </a:p>
        </p:txBody>
      </p:sp>
      <p:pic>
        <p:nvPicPr>
          <p:cNvPr id="39" name="Image 0" descr="/Users/paulsapio/Desktop/Claude Code/canyon-state-institute/decks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291072"/>
            <a:ext cx="274320" cy="27432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10241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Canyon State Institute  ·  Community Partnership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11076127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A33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7A2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Is More Than Academics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58368" y="140817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Canyon State Institute, we believe education is about more than academics.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1883664"/>
            <a:ext cx="5208880" cy="3346704"/>
          </a:xfrm>
          <a:prstGeom prst="roundRect">
            <a:avLst>
              <a:gd name="adj" fmla="val 2459"/>
            </a:avLst>
          </a:prstGeom>
          <a:solidFill>
            <a:srgbClr val="FDFAF5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9264" y="2103120"/>
            <a:ext cx="458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focus on developing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69264" y="2642616"/>
            <a:ext cx="274320" cy="274320"/>
          </a:xfrm>
          <a:prstGeom prst="ellipse">
            <a:avLst/>
          </a:prstGeom>
          <a:solidFill>
            <a:srgbClr val="7A2E0E"/>
          </a:solidFill>
          <a:ln w="12700">
            <a:solidFill>
              <a:srgbClr val="7A2E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642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53312" y="2606040"/>
            <a:ext cx="420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learners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9264" y="3145536"/>
            <a:ext cx="274320" cy="274320"/>
          </a:xfrm>
          <a:prstGeom prst="ellipse">
            <a:avLst/>
          </a:prstGeom>
          <a:solidFill>
            <a:srgbClr val="7A2E0E"/>
          </a:solidFill>
          <a:ln w="12700">
            <a:solidFill>
              <a:srgbClr val="7A2E0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53312" y="3108960"/>
            <a:ext cx="420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leaders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9264" y="3648456"/>
            <a:ext cx="274320" cy="274320"/>
          </a:xfrm>
          <a:prstGeom prst="ellipse">
            <a:avLst/>
          </a:prstGeom>
          <a:solidFill>
            <a:srgbClr val="7A2E0E"/>
          </a:solidFill>
          <a:ln w="12700">
            <a:solidFill>
              <a:srgbClr val="7A2E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3648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53312" y="3611880"/>
            <a:ext cx="420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thinkers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9264" y="4151376"/>
            <a:ext cx="274320" cy="274320"/>
          </a:xfrm>
          <a:prstGeom prst="ellipse">
            <a:avLst/>
          </a:prstGeom>
          <a:solidFill>
            <a:srgbClr val="7A2E0E"/>
          </a:solidFill>
          <a:ln w="12700">
            <a:solidFill>
              <a:srgbClr val="7A2E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53312" y="4114800"/>
            <a:ext cx="420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Career-ready graduates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9264" y="4654296"/>
            <a:ext cx="274320" cy="274320"/>
          </a:xfrm>
          <a:prstGeom prst="ellipse">
            <a:avLst/>
          </a:prstGeom>
          <a:solidFill>
            <a:srgbClr val="7A2E0E"/>
          </a:solidFill>
          <a:ln w="12700">
            <a:solidFill>
              <a:srgbClr val="7A2E0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654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53312" y="4617720"/>
            <a:ext cx="420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contributors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24448" y="1883664"/>
            <a:ext cx="5208880" cy="3346704"/>
          </a:xfrm>
          <a:prstGeom prst="roundRect">
            <a:avLst>
              <a:gd name="adj" fmla="val 2459"/>
            </a:avLst>
          </a:prstGeom>
          <a:solidFill>
            <a:srgbClr val="F6E7D3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35344" y="2103120"/>
            <a:ext cx="458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student deserves access to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635344" y="2642616"/>
            <a:ext cx="274320" cy="274320"/>
          </a:xfrm>
          <a:prstGeom prst="ellipse">
            <a:avLst/>
          </a:prstGeom>
          <a:solidFill>
            <a:srgbClr val="A33E14"/>
          </a:solidFill>
          <a:ln w="12700">
            <a:solidFill>
              <a:srgbClr val="A33E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35344" y="2642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19392" y="2606040"/>
            <a:ext cx="420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35344" y="3145536"/>
            <a:ext cx="274320" cy="274320"/>
          </a:xfrm>
          <a:prstGeom prst="ellipse">
            <a:avLst/>
          </a:prstGeom>
          <a:solidFill>
            <a:srgbClr val="A33E14"/>
          </a:solidFill>
          <a:ln w="12700">
            <a:solidFill>
              <a:srgbClr val="A33E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35344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19392" y="3108960"/>
            <a:ext cx="420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35344" y="3648456"/>
            <a:ext cx="274320" cy="274320"/>
          </a:xfrm>
          <a:prstGeom prst="ellipse">
            <a:avLst/>
          </a:prstGeom>
          <a:solidFill>
            <a:srgbClr val="A33E14"/>
          </a:solidFill>
          <a:ln w="12700">
            <a:solidFill>
              <a:srgbClr val="A33E1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35344" y="3648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19392" y="3611880"/>
            <a:ext cx="420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35344" y="4151376"/>
            <a:ext cx="274320" cy="274320"/>
          </a:xfrm>
          <a:prstGeom prst="ellipse">
            <a:avLst/>
          </a:prstGeom>
          <a:solidFill>
            <a:srgbClr val="A33E14"/>
          </a:solidFill>
          <a:ln w="12700">
            <a:solidFill>
              <a:srgbClr val="A33E1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35344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19392" y="4114800"/>
            <a:ext cx="420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experiences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635344" y="4654296"/>
            <a:ext cx="274320" cy="274320"/>
          </a:xfrm>
          <a:prstGeom prst="ellipse">
            <a:avLst/>
          </a:prstGeom>
          <a:solidFill>
            <a:srgbClr val="A33E14"/>
          </a:solidFill>
          <a:ln w="12700">
            <a:solidFill>
              <a:srgbClr val="A33E1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35344" y="4654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19392" y="4617720"/>
            <a:ext cx="420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pathway to success</a:t>
            </a:r>
            <a:endParaRPr lang="en-US" sz="1300" dirty="0"/>
          </a:p>
        </p:txBody>
      </p:sp>
      <p:pic>
        <p:nvPicPr>
          <p:cNvPr id="40" name="Image 0" descr="/Users/paulsapio/Desktop/Claude Code/canyon-state-institute/decks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291072"/>
            <a:ext cx="274320" cy="27432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0241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Canyon State Institute  ·  Community Partnership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11076127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A33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US DIFFERENT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7A2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Modern Education Model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58368" y="1481328"/>
            <a:ext cx="10874959" cy="786384"/>
          </a:xfrm>
          <a:prstGeom prst="roundRect">
            <a:avLst>
              <a:gd name="adj" fmla="val 10465"/>
            </a:avLst>
          </a:prstGeom>
          <a:solidFill>
            <a:srgbClr val="3B2314"/>
          </a:solidFill>
          <a:ln w="9525">
            <a:solidFill>
              <a:srgbClr val="3B2314"/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pic>
        <p:nvPicPr>
          <p:cNvPr id="6" name="Image 0" descr="/Users/paulsapio/Desktop/Claude Code/canyon-state-institute/decks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6367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481328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DF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School Program  ·  Grades 9–12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92847" y="1481328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of Canyon State Institute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8368" y="248716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experience: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58368" y="2962656"/>
            <a:ext cx="3417722" cy="1133856"/>
          </a:xfrm>
          <a:prstGeom prst="roundRect">
            <a:avLst>
              <a:gd name="adj" fmla="val 7258"/>
            </a:avLst>
          </a:prstGeom>
          <a:solidFill>
            <a:srgbClr val="F6E7D3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96112" y="3236976"/>
            <a:ext cx="347472" cy="347472"/>
          </a:xfrm>
          <a:prstGeom prst="ellipse">
            <a:avLst/>
          </a:prstGeom>
          <a:solidFill>
            <a:srgbClr val="A33E14"/>
          </a:solidFill>
          <a:ln w="12700">
            <a:solidFill>
              <a:srgbClr val="A33E1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DF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335024" y="3163824"/>
            <a:ext cx="25033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College-preparatory academics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86986" y="2962656"/>
            <a:ext cx="3417722" cy="1133856"/>
          </a:xfrm>
          <a:prstGeom prst="roundRect">
            <a:avLst>
              <a:gd name="adj" fmla="val 7258"/>
            </a:avLst>
          </a:prstGeom>
          <a:solidFill>
            <a:srgbClr val="F6E7D3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24730" y="3236976"/>
            <a:ext cx="347472" cy="347472"/>
          </a:xfrm>
          <a:prstGeom prst="ellipse">
            <a:avLst/>
          </a:prstGeom>
          <a:solidFill>
            <a:srgbClr val="A33E14"/>
          </a:solidFill>
          <a:ln w="12700">
            <a:solidFill>
              <a:srgbClr val="A33E1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24730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DF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63642" y="3163824"/>
            <a:ext cx="25033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education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115605" y="2962656"/>
            <a:ext cx="3417722" cy="1133856"/>
          </a:xfrm>
          <a:prstGeom prst="roundRect">
            <a:avLst>
              <a:gd name="adj" fmla="val 7258"/>
            </a:avLst>
          </a:prstGeom>
          <a:solidFill>
            <a:srgbClr val="F6E7D3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53349" y="3236976"/>
            <a:ext cx="347472" cy="347472"/>
          </a:xfrm>
          <a:prstGeom prst="ellipse">
            <a:avLst/>
          </a:prstGeom>
          <a:solidFill>
            <a:srgbClr val="A33E14"/>
          </a:solidFill>
          <a:ln w="12700">
            <a:solidFill>
              <a:srgbClr val="A33E1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53349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DF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792261" y="3163824"/>
            <a:ext cx="25033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integration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58368" y="4279392"/>
            <a:ext cx="3417722" cy="1133856"/>
          </a:xfrm>
          <a:prstGeom prst="roundRect">
            <a:avLst>
              <a:gd name="adj" fmla="val 7258"/>
            </a:avLst>
          </a:prstGeom>
          <a:solidFill>
            <a:srgbClr val="F6E7D3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96112" y="4553712"/>
            <a:ext cx="347472" cy="347472"/>
          </a:xfrm>
          <a:prstGeom prst="ellipse">
            <a:avLst/>
          </a:prstGeom>
          <a:solidFill>
            <a:srgbClr val="A33E14"/>
          </a:solidFill>
          <a:ln w="12700">
            <a:solidFill>
              <a:srgbClr val="A33E1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96112" y="4553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DF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335024" y="4480560"/>
            <a:ext cx="25033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exploration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386986" y="4279392"/>
            <a:ext cx="3417722" cy="1133856"/>
          </a:xfrm>
          <a:prstGeom prst="roundRect">
            <a:avLst>
              <a:gd name="adj" fmla="val 7258"/>
            </a:avLst>
          </a:prstGeom>
          <a:solidFill>
            <a:srgbClr val="F6E7D3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624730" y="4553712"/>
            <a:ext cx="347472" cy="347472"/>
          </a:xfrm>
          <a:prstGeom prst="ellipse">
            <a:avLst/>
          </a:prstGeom>
          <a:solidFill>
            <a:srgbClr val="A33E14"/>
          </a:solidFill>
          <a:ln w="12700">
            <a:solidFill>
              <a:srgbClr val="A33E1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24730" y="4553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DF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063642" y="4480560"/>
            <a:ext cx="25033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development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8115605" y="4279392"/>
            <a:ext cx="3417722" cy="1133856"/>
          </a:xfrm>
          <a:prstGeom prst="roundRect">
            <a:avLst>
              <a:gd name="adj" fmla="val 7258"/>
            </a:avLst>
          </a:prstGeom>
          <a:solidFill>
            <a:srgbClr val="F6E7D3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353349" y="4553712"/>
            <a:ext cx="347472" cy="347472"/>
          </a:xfrm>
          <a:prstGeom prst="ellipse">
            <a:avLst/>
          </a:prstGeom>
          <a:solidFill>
            <a:srgbClr val="A33E14"/>
          </a:solidFill>
          <a:ln w="12700">
            <a:solidFill>
              <a:srgbClr val="A33E1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53349" y="4553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DF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8792261" y="4480560"/>
            <a:ext cx="25033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Individualized academic support</a:t>
            </a:r>
            <a:endParaRPr lang="en-US" sz="1250" dirty="0"/>
          </a:p>
        </p:txBody>
      </p:sp>
      <p:pic>
        <p:nvPicPr>
          <p:cNvPr id="34" name="Image 1" descr="/Users/paulsapio/Desktop/Claude Code/canyon-state-institute/decks/assets/embl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291072"/>
            <a:ext cx="274320" cy="27432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0241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Canyon State Institute  ·  Community Partnership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11076127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A33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DIPLOMA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7A2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Postsecondary &amp; Certification Programs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58368" y="140817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Canyon State Institute will also provide: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1920240"/>
            <a:ext cx="2485568" cy="2286000"/>
          </a:xfrm>
          <a:prstGeom prst="roundRect">
            <a:avLst>
              <a:gd name="adj" fmla="val 3600"/>
            </a:avLst>
          </a:prstGeom>
          <a:solidFill>
            <a:srgbClr val="FDFAF5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157984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157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2743200"/>
            <a:ext cx="193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7A2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certifications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3328416"/>
            <a:ext cx="1936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credentials that carry weight with employers.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54832" y="1920240"/>
            <a:ext cx="2485568" cy="2286000"/>
          </a:xfrm>
          <a:prstGeom prst="roundRect">
            <a:avLst>
              <a:gd name="adj" fmla="val 3600"/>
            </a:avLst>
          </a:prstGeom>
          <a:solidFill>
            <a:srgbClr val="FDFAF5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29152" y="2157984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9152" y="2157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29152" y="2743200"/>
            <a:ext cx="193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7A2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training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29152" y="3328416"/>
            <a:ext cx="1936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skills aligned to regional employer demand.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51296" y="1920240"/>
            <a:ext cx="2485568" cy="2286000"/>
          </a:xfrm>
          <a:prstGeom prst="roundRect">
            <a:avLst>
              <a:gd name="adj" fmla="val 3600"/>
            </a:avLst>
          </a:prstGeom>
          <a:solidFill>
            <a:srgbClr val="FDFAF5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25616" y="2157984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5616" y="2157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25616" y="2743200"/>
            <a:ext cx="193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7A2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advancement opportunities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25616" y="3328416"/>
            <a:ext cx="1936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Pathways for adults returning to education mid-career.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47759" y="1920240"/>
            <a:ext cx="2485568" cy="2286000"/>
          </a:xfrm>
          <a:prstGeom prst="roundRect">
            <a:avLst>
              <a:gd name="adj" fmla="val 3600"/>
            </a:avLst>
          </a:prstGeom>
          <a:solidFill>
            <a:srgbClr val="FDFAF5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22079" y="2157984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2079" y="2157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2079" y="2743200"/>
            <a:ext cx="193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7A2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Industry-aligned credentials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22079" y="3328416"/>
            <a:ext cx="1936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built with employer input, not in isolation.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8368" y="4425696"/>
            <a:ext cx="10874959" cy="841248"/>
          </a:xfrm>
          <a:prstGeom prst="roundRect">
            <a:avLst>
              <a:gd name="adj" fmla="val 9783"/>
            </a:avLst>
          </a:prstGeom>
          <a:solidFill>
            <a:srgbClr val="3B2314"/>
          </a:solidFill>
          <a:ln w="9525">
            <a:solidFill>
              <a:srgbClr val="3B2314"/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24128" y="442569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6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graduates can continue directly into Canyon State Institute certificate programs — one institution, every stage of the journey.</a:t>
            </a:r>
            <a:endParaRPr lang="en-US" sz="1350" dirty="0"/>
          </a:p>
        </p:txBody>
      </p:sp>
      <p:pic>
        <p:nvPicPr>
          <p:cNvPr id="28" name="Image 0" descr="/Users/paulsapio/Desktop/Claude Code/canyon-state-institute/decks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291072"/>
            <a:ext cx="274320" cy="2743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0241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Canyon State Institute  ·  Community Partnership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11076127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A33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NEED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7A2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Families Need More Educational Choices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58368" y="14813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communities face: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1938528"/>
            <a:ext cx="5577840" cy="475488"/>
          </a:xfrm>
          <a:prstGeom prst="roundRect">
            <a:avLst>
              <a:gd name="adj" fmla="val 17308"/>
            </a:avLst>
          </a:prstGeom>
          <a:solidFill>
            <a:srgbClr val="F6E7D3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32688" y="193852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Overcrowded schools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2505456"/>
            <a:ext cx="5577840" cy="475488"/>
          </a:xfrm>
          <a:prstGeom prst="roundRect">
            <a:avLst>
              <a:gd name="adj" fmla="val 17308"/>
            </a:avLst>
          </a:prstGeom>
          <a:solidFill>
            <a:srgbClr val="F6E7D3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2688" y="250545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specialized programs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3072384"/>
            <a:ext cx="5577840" cy="475488"/>
          </a:xfrm>
          <a:prstGeom prst="roundRect">
            <a:avLst>
              <a:gd name="adj" fmla="val 17308"/>
            </a:avLst>
          </a:prstGeom>
          <a:solidFill>
            <a:srgbClr val="F6E7D3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32688" y="307238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needing more individualized support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3639312"/>
            <a:ext cx="5577840" cy="475488"/>
          </a:xfrm>
          <a:prstGeom prst="roundRect">
            <a:avLst>
              <a:gd name="adj" fmla="val 17308"/>
            </a:avLst>
          </a:prstGeom>
          <a:solidFill>
            <a:srgbClr val="F6E7D3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32688" y="363931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demand for STEM and career preparation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4206240"/>
            <a:ext cx="5577840" cy="475488"/>
          </a:xfrm>
          <a:prstGeom prst="roundRect">
            <a:avLst>
              <a:gd name="adj" fmla="val 17308"/>
            </a:avLst>
          </a:prstGeom>
          <a:solidFill>
            <a:srgbClr val="F6E7D3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2688" y="420624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development challenges</a:t>
            </a:r>
            <a:endParaRPr lang="en-US" sz="1250" dirty="0"/>
          </a:p>
        </p:txBody>
      </p:sp>
      <p:pic>
        <p:nvPicPr>
          <p:cNvPr id="16" name="Image 0" descr="/Users/paulsapio/Desktop/Claude Code/canyon-state-institute/decks/assets/high-school-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39128" y="1481328"/>
            <a:ext cx="4794199" cy="17373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739128" y="3364992"/>
            <a:ext cx="47941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Canyon State Institute provides an additional option that supports: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739128" y="3877056"/>
            <a:ext cx="3971239" cy="384048"/>
          </a:xfrm>
          <a:prstGeom prst="roundRect">
            <a:avLst>
              <a:gd name="adj" fmla="val 50000"/>
            </a:avLst>
          </a:prstGeom>
          <a:solidFill>
            <a:srgbClr val="7A2E0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39128" y="3877056"/>
            <a:ext cx="39712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541868" y="427024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05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6739128" y="4389120"/>
            <a:ext cx="3971239" cy="384048"/>
          </a:xfrm>
          <a:prstGeom prst="roundRect">
            <a:avLst>
              <a:gd name="adj" fmla="val 50000"/>
            </a:avLst>
          </a:prstGeom>
          <a:solidFill>
            <a:srgbClr val="A33E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39128" y="4389120"/>
            <a:ext cx="39712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541868" y="4782312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05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6739128" y="4901184"/>
            <a:ext cx="3971239" cy="384048"/>
          </a:xfrm>
          <a:prstGeom prst="roundRect">
            <a:avLst>
              <a:gd name="adj" fmla="val 50000"/>
            </a:avLst>
          </a:prstGeom>
          <a:solidFill>
            <a:srgbClr val="7A2E0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39128" y="4901184"/>
            <a:ext cx="39712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541868" y="5294376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05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6739128" y="5413248"/>
            <a:ext cx="3971239" cy="384048"/>
          </a:xfrm>
          <a:prstGeom prst="roundRect">
            <a:avLst>
              <a:gd name="adj" fmla="val 50000"/>
            </a:avLst>
          </a:prstGeom>
          <a:solidFill>
            <a:srgbClr val="A33E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39128" y="5413248"/>
            <a:ext cx="39712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</a:t>
            </a:r>
            <a:endParaRPr lang="en-US" sz="1200" dirty="0"/>
          </a:p>
        </p:txBody>
      </p:sp>
      <p:pic>
        <p:nvPicPr>
          <p:cNvPr id="29" name="Image 1" descr="/Users/paulsapio/Desktop/Claude Code/canyon-state-institute/decks/assets/embl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291072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0241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Canyon State Institute  ·  Community Partnership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11076127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231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Users/paulsapio/Desktop/Claude Code/canyon-state-institute/decks/assets/section-landscape.jp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VISION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58368" y="87782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DF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Community Education Hub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58368" y="159105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6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Canyon State Institute is seeking a community partner to establish a shared educational facility that will serve as a: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58368" y="2212848"/>
            <a:ext cx="1955536" cy="2395728"/>
          </a:xfrm>
          <a:prstGeom prst="roundRect">
            <a:avLst>
              <a:gd name="adj" fmla="val 4208"/>
            </a:avLst>
          </a:prstGeom>
          <a:solidFill>
            <a:srgbClr val="FDFAF5">
              <a:alpha val="94000"/>
            </a:srgbClr>
          </a:solidFill>
          <a:ln w="9525">
            <a:solidFill>
              <a:srgbClr val="E8A33D">
                <a:alpha val="4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7824" y="2432304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77824" y="2944368"/>
            <a:ext cx="1516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7A2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school resource and location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77824" y="3712464"/>
            <a:ext cx="1516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online, but want heavy student support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888224" y="2212848"/>
            <a:ext cx="1955536" cy="2395728"/>
          </a:xfrm>
          <a:prstGeom prst="roundRect">
            <a:avLst>
              <a:gd name="adj" fmla="val 4208"/>
            </a:avLst>
          </a:prstGeom>
          <a:solidFill>
            <a:srgbClr val="FDFAF5">
              <a:alpha val="94000"/>
            </a:srgbClr>
          </a:solidFill>
          <a:ln w="9525">
            <a:solidFill>
              <a:srgbClr val="E8A33D">
                <a:alpha val="4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07680" y="2432304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07680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107680" y="2944368"/>
            <a:ext cx="1516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7A2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STEM learning center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107680" y="3712464"/>
            <a:ext cx="1516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labs and innovation space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118080" y="2212848"/>
            <a:ext cx="1955536" cy="2395728"/>
          </a:xfrm>
          <a:prstGeom prst="roundRect">
            <a:avLst>
              <a:gd name="adj" fmla="val 4208"/>
            </a:avLst>
          </a:prstGeom>
          <a:solidFill>
            <a:srgbClr val="FDFAF5">
              <a:alpha val="94000"/>
            </a:srgbClr>
          </a:solidFill>
          <a:ln w="9525">
            <a:solidFill>
              <a:srgbClr val="E8A33D">
                <a:alpha val="45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37536" y="2432304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37536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337536" y="2944368"/>
            <a:ext cx="1516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7A2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development hub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337536" y="3712464"/>
            <a:ext cx="1516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aligned to regional employers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347936" y="2212848"/>
            <a:ext cx="1955536" cy="2395728"/>
          </a:xfrm>
          <a:prstGeom prst="roundRect">
            <a:avLst>
              <a:gd name="adj" fmla="val 4208"/>
            </a:avLst>
          </a:prstGeom>
          <a:solidFill>
            <a:srgbClr val="FDFAF5">
              <a:alpha val="94000"/>
            </a:srgbClr>
          </a:solidFill>
          <a:ln w="9525">
            <a:solidFill>
              <a:srgbClr val="E8A33D">
                <a:alpha val="45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567392" y="2432304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67392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567392" y="2944368"/>
            <a:ext cx="1516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7A2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resource location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567392" y="3712464"/>
            <a:ext cx="1516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space the neighborhood can use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577791" y="2212848"/>
            <a:ext cx="1955536" cy="2395728"/>
          </a:xfrm>
          <a:prstGeom prst="roundRect">
            <a:avLst>
              <a:gd name="adj" fmla="val 4208"/>
            </a:avLst>
          </a:prstGeom>
          <a:solidFill>
            <a:srgbClr val="FDFAF5">
              <a:alpha val="94000"/>
            </a:srgbClr>
          </a:solidFill>
          <a:ln w="9525">
            <a:solidFill>
              <a:srgbClr val="E8A33D">
                <a:alpha val="45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797247" y="2432304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797247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797247" y="2944368"/>
            <a:ext cx="1516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7A2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Postsecondary training site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9797247" y="3712464"/>
            <a:ext cx="1516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programs for adult learners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58368" y="4956048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Together, we can transform existing space into a center of opportunity.</a:t>
            </a:r>
            <a:endParaRPr lang="en-US" sz="1900" dirty="0"/>
          </a:p>
        </p:txBody>
      </p:sp>
      <p:pic>
        <p:nvPicPr>
          <p:cNvPr id="33" name="Image 1" descr="/Users/paulsapio/Desktop/Claude Code/canyon-state-institute/decks/assets/embl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1263" y="5907024"/>
            <a:ext cx="512064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A33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SEEKING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7A2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Facility Partnership Opportunity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58368" y="1517904"/>
            <a:ext cx="5208880" cy="3712464"/>
          </a:xfrm>
          <a:prstGeom prst="roundRect">
            <a:avLst>
              <a:gd name="adj" fmla="val 2217"/>
            </a:avLst>
          </a:prstGeom>
          <a:solidFill>
            <a:srgbClr val="F6E7D3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9264" y="1755648"/>
            <a:ext cx="458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Canyon State Institute is seeking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9264" y="2331720"/>
            <a:ext cx="365760" cy="365760"/>
          </a:xfrm>
          <a:prstGeom prst="ellipse">
            <a:avLst/>
          </a:prstGeom>
          <a:solidFill>
            <a:srgbClr val="7A2E0E"/>
          </a:solidFill>
          <a:ln w="12700">
            <a:solidFill>
              <a:srgbClr val="7A2E0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44752" y="2286000"/>
            <a:ext cx="411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 classroom space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9264" y="2990088"/>
            <a:ext cx="365760" cy="365760"/>
          </a:xfrm>
          <a:prstGeom prst="ellipse">
            <a:avLst/>
          </a:prstGeom>
          <a:solidFill>
            <a:srgbClr val="7A2E0E"/>
          </a:solidFill>
          <a:ln w="12700">
            <a:solidFill>
              <a:srgbClr val="7A2E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44752" y="2944368"/>
            <a:ext cx="411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Shared-use facility arrangements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9264" y="3648456"/>
            <a:ext cx="365760" cy="365760"/>
          </a:xfrm>
          <a:prstGeom prst="ellipse">
            <a:avLst/>
          </a:prstGeom>
          <a:solidFill>
            <a:srgbClr val="7A2E0E"/>
          </a:solidFill>
          <a:ln w="12700">
            <a:solidFill>
              <a:srgbClr val="7A2E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44752" y="3602736"/>
            <a:ext cx="411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facility partnership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9264" y="4306824"/>
            <a:ext cx="365760" cy="365760"/>
          </a:xfrm>
          <a:prstGeom prst="ellipse">
            <a:avLst/>
          </a:prstGeom>
          <a:solidFill>
            <a:srgbClr val="7A2E0E"/>
          </a:solidFill>
          <a:ln w="12700">
            <a:solidFill>
              <a:srgbClr val="7A2E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4306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44752" y="4261104"/>
            <a:ext cx="411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campus collaboration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24448" y="1517904"/>
            <a:ext cx="5208880" cy="3712464"/>
          </a:xfrm>
          <a:prstGeom prst="roundRect">
            <a:avLst>
              <a:gd name="adj" fmla="val 2217"/>
            </a:avLst>
          </a:prstGeom>
          <a:solidFill>
            <a:srgbClr val="FDFAF5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35344" y="1755648"/>
            <a:ext cx="458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Ideal facility characteristics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635344" y="2331720"/>
            <a:ext cx="274320" cy="274320"/>
          </a:xfrm>
          <a:prstGeom prst="ellipse">
            <a:avLst/>
          </a:prstGeom>
          <a:solidFill>
            <a:srgbClr val="A33E14"/>
          </a:solidFill>
          <a:ln w="12700">
            <a:solidFill>
              <a:srgbClr val="A33E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35344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37680" y="2286000"/>
            <a:ext cx="416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Classrooms or a computer room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35344" y="2788920"/>
            <a:ext cx="274320" cy="274320"/>
          </a:xfrm>
          <a:prstGeom prst="ellipse">
            <a:avLst/>
          </a:prstGeom>
          <a:solidFill>
            <a:srgbClr val="A33E14"/>
          </a:solidFill>
          <a:ln w="12700">
            <a:solidFill>
              <a:srgbClr val="A33E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35344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37680" y="2743200"/>
            <a:ext cx="416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administrative space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35344" y="3246120"/>
            <a:ext cx="274320" cy="274320"/>
          </a:xfrm>
          <a:prstGeom prst="ellipse">
            <a:avLst/>
          </a:prstGeom>
          <a:solidFill>
            <a:srgbClr val="A33E14"/>
          </a:solidFill>
          <a:ln w="12700">
            <a:solidFill>
              <a:srgbClr val="A33E1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35344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37680" y="3200400"/>
            <a:ext cx="416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infrastructure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635344" y="3703320"/>
            <a:ext cx="274320" cy="274320"/>
          </a:xfrm>
          <a:prstGeom prst="ellipse">
            <a:avLst/>
          </a:prstGeom>
          <a:solidFill>
            <a:srgbClr val="A33E14"/>
          </a:solidFill>
          <a:ln w="12700">
            <a:solidFill>
              <a:srgbClr val="A33E1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35344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37680" y="3657600"/>
            <a:ext cx="416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gathering areas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635344" y="4160520"/>
            <a:ext cx="274320" cy="274320"/>
          </a:xfrm>
          <a:prstGeom prst="ellipse">
            <a:avLst/>
          </a:prstGeom>
          <a:solidFill>
            <a:srgbClr val="A33E14"/>
          </a:solidFill>
          <a:ln w="12700">
            <a:solidFill>
              <a:srgbClr val="A33E1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35344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37680" y="4114800"/>
            <a:ext cx="416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availability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635344" y="4617720"/>
            <a:ext cx="274320" cy="274320"/>
          </a:xfrm>
          <a:prstGeom prst="ellipse">
            <a:avLst/>
          </a:prstGeom>
          <a:solidFill>
            <a:srgbClr val="A33E14"/>
          </a:solidFill>
          <a:ln w="12700">
            <a:solidFill>
              <a:srgbClr val="A33E1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35344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37680" y="4572000"/>
            <a:ext cx="416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and accessible environment</a:t>
            </a:r>
            <a:endParaRPr lang="en-US" sz="1250" dirty="0"/>
          </a:p>
        </p:txBody>
      </p:sp>
      <p:pic>
        <p:nvPicPr>
          <p:cNvPr id="39" name="Image 0" descr="/Users/paulsapio/Desktop/Claude Code/canyon-state-institute/decks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291072"/>
            <a:ext cx="274320" cy="27432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10241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Canyon State Institute  ·  Community Partnership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11076127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A33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TO THE COMMUNITY PARTNER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7A2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Partnership That Creates Shared Impact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58368" y="140817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organizations benefit through: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1938528"/>
            <a:ext cx="3381146" cy="3054096"/>
          </a:xfrm>
          <a:prstGeom prst="roundRect">
            <a:avLst>
              <a:gd name="adj" fmla="val 2695"/>
            </a:avLst>
          </a:prstGeom>
          <a:solidFill>
            <a:srgbClr val="FDFAF5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87552" y="2249424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249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2889504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A2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Impact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87552" y="3401568"/>
            <a:ext cx="27227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educational access</a:t>
            </a:r>
            <a:endParaRPr lang="en-US" sz="1200" dirty="0"/>
          </a:p>
          <a:p>
            <a:pPr marL="342900" indent="-342900">
              <a:lnSpc>
                <a:spcPct val="11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youth success</a:t>
            </a:r>
            <a:endParaRPr lang="en-US" sz="1200" dirty="0"/>
          </a:p>
          <a:p>
            <a:pPr marL="342900" indent="-342900">
              <a:lnSpc>
                <a:spcPct val="11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Strengthening workforce pipelines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05274" y="1938528"/>
            <a:ext cx="3381146" cy="3054096"/>
          </a:xfrm>
          <a:prstGeom prst="roundRect">
            <a:avLst>
              <a:gd name="adj" fmla="val 2695"/>
            </a:avLst>
          </a:prstGeom>
          <a:solidFill>
            <a:srgbClr val="FDFAF5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4458" y="2249424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4458" y="2249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34458" y="2889504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A2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Facility Utilization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734458" y="3401568"/>
            <a:ext cx="27227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Activating unused or underutilized space</a:t>
            </a:r>
            <a:endParaRPr lang="en-US" sz="1200" dirty="0"/>
          </a:p>
          <a:p>
            <a:pPr marL="342900" indent="-342900">
              <a:lnSpc>
                <a:spcPct val="11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ongoing community engagement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2181" y="1938528"/>
            <a:ext cx="3381146" cy="3054096"/>
          </a:xfrm>
          <a:prstGeom prst="roundRect">
            <a:avLst>
              <a:gd name="adj" fmla="val 2695"/>
            </a:avLst>
          </a:prstGeom>
          <a:solidFill>
            <a:srgbClr val="FDFAF5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81365" y="2249424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81365" y="2249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81365" y="2889504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A2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Mission Alignment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481365" y="3401568"/>
            <a:ext cx="27227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families</a:t>
            </a:r>
            <a:endParaRPr lang="en-US" sz="1200" dirty="0"/>
          </a:p>
          <a:p>
            <a:pPr marL="342900" indent="-342900">
              <a:lnSpc>
                <a:spcPct val="11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leaders</a:t>
            </a:r>
            <a:endParaRPr lang="en-US" sz="1200" dirty="0"/>
          </a:p>
          <a:p>
            <a:pPr marL="342900" indent="-342900">
              <a:lnSpc>
                <a:spcPct val="114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community outcomes</a:t>
            </a:r>
            <a:endParaRPr lang="en-US" sz="1200" dirty="0"/>
          </a:p>
        </p:txBody>
      </p:sp>
      <p:pic>
        <p:nvPicPr>
          <p:cNvPr id="21" name="Image 0" descr="/Users/paulsapio/Desktop/Claude Code/canyon-state-institute/decks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291072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241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Canyon State Institute  ·  Community Partnership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076127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A33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TO STUDENTS &amp; FAMILIES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7A2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Students Gain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58368" y="1517904"/>
            <a:ext cx="2513000" cy="731520"/>
          </a:xfrm>
          <a:prstGeom prst="roundRect">
            <a:avLst>
              <a:gd name="adj" fmla="val 11250"/>
            </a:avLst>
          </a:prstGeom>
          <a:solidFill>
            <a:srgbClr val="F6E7D3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1746504"/>
            <a:ext cx="274320" cy="274320"/>
          </a:xfrm>
          <a:prstGeom prst="ellipse">
            <a:avLst/>
          </a:prstGeom>
          <a:solidFill>
            <a:srgbClr val="7A2E0E"/>
          </a:solidFill>
          <a:ln w="12700">
            <a:solidFill>
              <a:srgbClr val="7A2E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746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61872" y="1517904"/>
            <a:ext cx="169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education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45688" y="1517904"/>
            <a:ext cx="2513000" cy="731520"/>
          </a:xfrm>
          <a:prstGeom prst="roundRect">
            <a:avLst>
              <a:gd name="adj" fmla="val 11250"/>
            </a:avLst>
          </a:prstGeom>
          <a:solidFill>
            <a:srgbClr val="F6E7D3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65144" y="1746504"/>
            <a:ext cx="274320" cy="274320"/>
          </a:xfrm>
          <a:prstGeom prst="ellipse">
            <a:avLst/>
          </a:prstGeom>
          <a:solidFill>
            <a:srgbClr val="7A2E0E"/>
          </a:solidFill>
          <a:ln w="12700">
            <a:solidFill>
              <a:srgbClr val="7A2E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5144" y="1746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49192" y="1517904"/>
            <a:ext cx="169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opportunities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33008" y="1517904"/>
            <a:ext cx="2513000" cy="731520"/>
          </a:xfrm>
          <a:prstGeom prst="roundRect">
            <a:avLst>
              <a:gd name="adj" fmla="val 11250"/>
            </a:avLst>
          </a:prstGeom>
          <a:solidFill>
            <a:srgbClr val="F6E7D3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52464" y="1746504"/>
            <a:ext cx="274320" cy="274320"/>
          </a:xfrm>
          <a:prstGeom prst="ellipse">
            <a:avLst/>
          </a:prstGeom>
          <a:solidFill>
            <a:srgbClr val="7A2E0E"/>
          </a:solidFill>
          <a:ln w="12700">
            <a:solidFill>
              <a:srgbClr val="7A2E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2464" y="1746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6512" y="1517904"/>
            <a:ext cx="169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exposure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20327" y="1517904"/>
            <a:ext cx="2513000" cy="731520"/>
          </a:xfrm>
          <a:prstGeom prst="roundRect">
            <a:avLst>
              <a:gd name="adj" fmla="val 11250"/>
            </a:avLst>
          </a:prstGeom>
          <a:solidFill>
            <a:srgbClr val="F6E7D3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239783" y="1746504"/>
            <a:ext cx="274320" cy="274320"/>
          </a:xfrm>
          <a:prstGeom prst="ellipse">
            <a:avLst/>
          </a:prstGeom>
          <a:solidFill>
            <a:srgbClr val="7A2E0E"/>
          </a:solidFill>
          <a:ln w="12700">
            <a:solidFill>
              <a:srgbClr val="7A2E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9783" y="1746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23831" y="1517904"/>
            <a:ext cx="169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connections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2414016"/>
            <a:ext cx="2513000" cy="731520"/>
          </a:xfrm>
          <a:prstGeom prst="roundRect">
            <a:avLst>
              <a:gd name="adj" fmla="val 11250"/>
            </a:avLst>
          </a:prstGeom>
          <a:solidFill>
            <a:srgbClr val="F6E7D3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77824" y="2642616"/>
            <a:ext cx="274320" cy="274320"/>
          </a:xfrm>
          <a:prstGeom prst="ellipse">
            <a:avLst/>
          </a:prstGeom>
          <a:solidFill>
            <a:srgbClr val="7A2E0E"/>
          </a:solidFill>
          <a:ln w="12700">
            <a:solidFill>
              <a:srgbClr val="7A2E0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2642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61872" y="2414016"/>
            <a:ext cx="169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45688" y="2414016"/>
            <a:ext cx="2513000" cy="731520"/>
          </a:xfrm>
          <a:prstGeom prst="roundRect">
            <a:avLst>
              <a:gd name="adj" fmla="val 11250"/>
            </a:avLst>
          </a:prstGeom>
          <a:solidFill>
            <a:srgbClr val="F6E7D3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65144" y="2642616"/>
            <a:ext cx="274320" cy="274320"/>
          </a:xfrm>
          <a:prstGeom prst="ellipse">
            <a:avLst/>
          </a:prstGeom>
          <a:solidFill>
            <a:srgbClr val="7A2E0E"/>
          </a:solidFill>
          <a:ln w="12700">
            <a:solidFill>
              <a:srgbClr val="7A2E0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65144" y="2642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49192" y="2414016"/>
            <a:ext cx="169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preparation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33008" y="2414016"/>
            <a:ext cx="2513000" cy="731520"/>
          </a:xfrm>
          <a:prstGeom prst="roundRect">
            <a:avLst>
              <a:gd name="adj" fmla="val 11250"/>
            </a:avLst>
          </a:prstGeom>
          <a:solidFill>
            <a:srgbClr val="F6E7D3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52464" y="2642616"/>
            <a:ext cx="274320" cy="274320"/>
          </a:xfrm>
          <a:prstGeom prst="ellipse">
            <a:avLst/>
          </a:prstGeom>
          <a:solidFill>
            <a:srgbClr val="7A2E0E"/>
          </a:solidFill>
          <a:ln w="12700">
            <a:solidFill>
              <a:srgbClr val="7A2E0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52464" y="2642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36512" y="2414016"/>
            <a:ext cx="169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skills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020327" y="2414016"/>
            <a:ext cx="2513000" cy="731520"/>
          </a:xfrm>
          <a:prstGeom prst="roundRect">
            <a:avLst>
              <a:gd name="adj" fmla="val 11250"/>
            </a:avLst>
          </a:prstGeom>
          <a:solidFill>
            <a:srgbClr val="F6E7D3"/>
          </a:solidFill>
          <a:ln w="9525">
            <a:solidFill>
              <a:srgbClr val="C05B2B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239783" y="2642616"/>
            <a:ext cx="274320" cy="274320"/>
          </a:xfrm>
          <a:prstGeom prst="ellipse">
            <a:avLst/>
          </a:prstGeom>
          <a:solidFill>
            <a:srgbClr val="7A2E0E"/>
          </a:solidFill>
          <a:ln w="12700">
            <a:solidFill>
              <a:srgbClr val="7A2E0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39783" y="2642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23831" y="2414016"/>
            <a:ext cx="169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development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58368" y="3529584"/>
            <a:ext cx="10874959" cy="1847088"/>
          </a:xfrm>
          <a:prstGeom prst="roundRect">
            <a:avLst>
              <a:gd name="adj" fmla="val 4455"/>
            </a:avLst>
          </a:prstGeom>
          <a:solidFill>
            <a:srgbClr val="3B2314"/>
          </a:solidFill>
          <a:ln w="9525">
            <a:solidFill>
              <a:srgbClr val="3B2314"/>
            </a:solidFill>
            <a:prstDash val="solid"/>
          </a:ln>
          <a:effectLst>
            <a:outerShdw sx="100000" sy="100000" kx="0" ky="0" algn="bl" rotWithShape="0" blurRad="127000" dist="25400" dir="5400000">
              <a:srgbClr val="3B2314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24128" y="38039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graduate prepared for: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024128" y="4315968"/>
            <a:ext cx="1853123" cy="694944"/>
          </a:xfrm>
          <a:prstGeom prst="roundRect">
            <a:avLst>
              <a:gd name="adj" fmla="val 11842"/>
            </a:avLst>
          </a:prstGeom>
          <a:solidFill>
            <a:srgbClr val="FDFAF5">
              <a:alpha val="92000"/>
            </a:srgbClr>
          </a:solidFill>
          <a:ln w="9525">
            <a:solidFill>
              <a:srgbClr val="E8A33D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4128" y="4315968"/>
            <a:ext cx="18531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096707" y="4315968"/>
            <a:ext cx="1853123" cy="694944"/>
          </a:xfrm>
          <a:prstGeom prst="roundRect">
            <a:avLst>
              <a:gd name="adj" fmla="val 11842"/>
            </a:avLst>
          </a:prstGeom>
          <a:solidFill>
            <a:srgbClr val="FDFAF5">
              <a:alpha val="92000"/>
            </a:srgbClr>
          </a:solidFill>
          <a:ln w="9525">
            <a:solidFill>
              <a:srgbClr val="E8A33D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96707" y="4315968"/>
            <a:ext cx="18531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169286" y="4315968"/>
            <a:ext cx="1853123" cy="694944"/>
          </a:xfrm>
          <a:prstGeom prst="roundRect">
            <a:avLst>
              <a:gd name="adj" fmla="val 11842"/>
            </a:avLst>
          </a:prstGeom>
          <a:solidFill>
            <a:srgbClr val="FDFAF5">
              <a:alpha val="92000"/>
            </a:srgbClr>
          </a:solidFill>
          <a:ln w="9525">
            <a:solidFill>
              <a:srgbClr val="E8A33D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69286" y="4315968"/>
            <a:ext cx="18531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241865" y="4315968"/>
            <a:ext cx="1853123" cy="694944"/>
          </a:xfrm>
          <a:prstGeom prst="roundRect">
            <a:avLst>
              <a:gd name="adj" fmla="val 11842"/>
            </a:avLst>
          </a:prstGeom>
          <a:solidFill>
            <a:srgbClr val="FDFAF5">
              <a:alpha val="92000"/>
            </a:srgbClr>
          </a:solidFill>
          <a:ln w="9525">
            <a:solidFill>
              <a:srgbClr val="E8A33D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41865" y="4315968"/>
            <a:ext cx="18531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Entrepreneurship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9314444" y="4315968"/>
            <a:ext cx="1853123" cy="694944"/>
          </a:xfrm>
          <a:prstGeom prst="roundRect">
            <a:avLst>
              <a:gd name="adj" fmla="val 11842"/>
            </a:avLst>
          </a:prstGeom>
          <a:solidFill>
            <a:srgbClr val="FDFAF5">
              <a:alpha val="92000"/>
            </a:srgbClr>
          </a:solidFill>
          <a:ln w="9525">
            <a:solidFill>
              <a:srgbClr val="E8A33D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14444" y="4315968"/>
            <a:ext cx="18531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leadership</a:t>
            </a:r>
            <a:endParaRPr lang="en-US" sz="1150" dirty="0"/>
          </a:p>
        </p:txBody>
      </p:sp>
      <p:pic>
        <p:nvPicPr>
          <p:cNvPr id="49" name="Image 0" descr="/Users/paulsapio/Desktop/Claude Code/canyon-state-institute/decks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291072"/>
            <a:ext cx="274320" cy="274320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10241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Canyon State Institute  ·  Community Partnership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11076127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231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Users/paulsapio/Desktop/Claude Code/canyon-state-institute/decks/assets/veteran-band.jpg">    </p:cNvPr>
          <p:cNvPicPr>
            <a:picLocks noChangeAspect="1"/>
          </p:cNvPicPr>
          <p:nvPr/>
        </p:nvPicPr>
        <p:blipFill>
          <a:blip r:embed="rId1">
            <a:alphaModFix amt="26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PARTNER WITH CANYON STATE INSTITUTE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58368" y="87782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DF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Together We Can Create Lasting Impact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58368" y="160934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6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partnership with Canyon State Institute provides an opportunity to: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58368" y="2121408"/>
            <a:ext cx="6675120" cy="475488"/>
          </a:xfrm>
          <a:prstGeom prst="roundRect">
            <a:avLst>
              <a:gd name="adj" fmla="val 17308"/>
            </a:avLst>
          </a:prstGeom>
          <a:solidFill>
            <a:srgbClr val="FDFAF5">
              <a:alpha val="92000"/>
            </a:srgbClr>
          </a:solidFill>
          <a:ln w="9525">
            <a:solidFill>
              <a:srgbClr val="E8A33D">
                <a:alpha val="3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2185416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185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98448" y="212140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the next generation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58368" y="2688336"/>
            <a:ext cx="6675120" cy="475488"/>
          </a:xfrm>
          <a:prstGeom prst="roundRect">
            <a:avLst>
              <a:gd name="adj" fmla="val 17308"/>
            </a:avLst>
          </a:prstGeom>
          <a:solidFill>
            <a:srgbClr val="FDFAF5">
              <a:alpha val="92000"/>
            </a:srgbClr>
          </a:solidFill>
          <a:ln w="9525">
            <a:solidFill>
              <a:srgbClr val="E8A33D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2752344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2752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98448" y="2688336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workforce readiness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58368" y="3255264"/>
            <a:ext cx="6675120" cy="475488"/>
          </a:xfrm>
          <a:prstGeom prst="roundRect">
            <a:avLst>
              <a:gd name="adj" fmla="val 17308"/>
            </a:avLst>
          </a:prstGeom>
          <a:solidFill>
            <a:srgbClr val="FDFAF5">
              <a:alpha val="92000"/>
            </a:srgbClr>
          </a:solidFill>
          <a:ln w="9525">
            <a:solidFill>
              <a:srgbClr val="E8A33D">
                <a:alpha val="3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" y="3319272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298448" y="3255264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educational access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58368" y="3822192"/>
            <a:ext cx="6675120" cy="475488"/>
          </a:xfrm>
          <a:prstGeom prst="roundRect">
            <a:avLst>
              <a:gd name="adj" fmla="val 17308"/>
            </a:avLst>
          </a:prstGeom>
          <a:solidFill>
            <a:srgbClr val="FDFAF5">
              <a:alpha val="92000"/>
            </a:srgbClr>
          </a:solidFill>
          <a:ln w="9525">
            <a:solidFill>
              <a:srgbClr val="E8A33D">
                <a:alpha val="3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2960" y="3886200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298448" y="3822192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families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89120"/>
            <a:ext cx="6675120" cy="475488"/>
          </a:xfrm>
          <a:prstGeom prst="roundRect">
            <a:avLst>
              <a:gd name="adj" fmla="val 17308"/>
            </a:avLst>
          </a:prstGeom>
          <a:solidFill>
            <a:srgbClr val="FDFAF5">
              <a:alpha val="92000"/>
            </a:srgbClr>
          </a:solidFill>
          <a:ln w="9525">
            <a:solidFill>
              <a:srgbClr val="E8A33D">
                <a:alpha val="38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22960" y="4453128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4453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298448" y="438912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measurable community impact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77240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28" name="Text 25"/>
          <p:cNvSpPr/>
          <p:nvPr/>
        </p:nvSpPr>
        <p:spPr>
          <a:xfrm>
            <a:off x="7882128" y="2889504"/>
            <a:ext cx="363931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100" b="1" i="1" dirty="0">
                <a:solidFill>
                  <a:srgbClr val="FDF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is one of the strongest investments a community can make.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231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Users/paulsapio/Desktop/Claude Code/canyon-state-institute/decks/assets/hero-canyon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58368" y="87782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DF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Build the Future Together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58368" y="1664208"/>
            <a:ext cx="516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6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seeking community partners who share our commitment to: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8368" y="2286000"/>
            <a:ext cx="274320" cy="2743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60704" y="2231136"/>
            <a:ext cx="470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success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58368" y="2798064"/>
            <a:ext cx="274320" cy="2743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60704" y="2743200"/>
            <a:ext cx="470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development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8368" y="3310128"/>
            <a:ext cx="274320" cy="2743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60704" y="3255264"/>
            <a:ext cx="470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58368" y="3822192"/>
            <a:ext cx="274320" cy="2743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3822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60704" y="3767328"/>
            <a:ext cx="470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growth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70168" y="1664208"/>
            <a:ext cx="516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370168" y="2249424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70168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845656" y="2231136"/>
            <a:ext cx="463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discussion and site evaluation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370168" y="2761488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70168" y="2761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845656" y="2743200"/>
            <a:ext cx="463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alignment meeting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370168" y="3273552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70168" y="3273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845656" y="3255264"/>
            <a:ext cx="463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utilization planning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370168" y="3785616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70168" y="3785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845656" y="3767328"/>
            <a:ext cx="463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timeline development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58368" y="4517136"/>
            <a:ext cx="10874959" cy="1170432"/>
          </a:xfrm>
          <a:prstGeom prst="roundRect">
            <a:avLst>
              <a:gd name="adj" fmla="val 7031"/>
            </a:avLst>
          </a:prstGeom>
          <a:solidFill>
            <a:srgbClr val="FDFAF5">
              <a:alpha val="92000"/>
            </a:srgbClr>
          </a:solidFill>
          <a:ln w="9525">
            <a:solidFill>
              <a:srgbClr val="E8A33D">
                <a:alpha val="45000"/>
              </a:srgbClr>
            </a:solidFill>
            <a:prstDash val="solid"/>
          </a:ln>
        </p:spPr>
      </p:sp>
      <p:pic>
        <p:nvPicPr>
          <p:cNvPr id="33" name="Image 1" descr="/Users/paulsapio/Desktop/Claude Code/canyon-state-institute/decks/assets/logo-horizon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4736592"/>
            <a:ext cx="3200400" cy="740664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407408" y="470001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7A2E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pathways.  Creating opportunities.  Transforming lives.</a:t>
            </a:r>
            <a:endParaRPr lang="en-US" sz="1450" dirty="0"/>
          </a:p>
        </p:txBody>
      </p:sp>
      <p:sp>
        <p:nvSpPr>
          <p:cNvPr id="35" name="Text 31"/>
          <p:cNvSpPr/>
          <p:nvPr/>
        </p:nvSpPr>
        <p:spPr>
          <a:xfrm>
            <a:off x="4407408" y="512064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33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[Contact name, title]  ·  [Phone]  ·  [Email]  ·  [Website]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Canyon State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Canyon State Institute — Community Partnership</dc:title>
  <dc:subject>PptxGenJS Presentation</dc:subject>
  <dc:creator>Canyon State Institute</dc:creator>
  <cp:lastModifiedBy>Canyon State Institute</cp:lastModifiedBy>
  <cp:revision>1</cp:revision>
  <dcterms:created xsi:type="dcterms:W3CDTF">2026-08-05T21:15:39Z</dcterms:created>
  <dcterms:modified xsi:type="dcterms:W3CDTF">2026-08-05T21:15:39Z</dcterms:modified>
</cp:coreProperties>
</file>